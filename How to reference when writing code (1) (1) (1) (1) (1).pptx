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1" r:id="rId12"/>
    <p:sldId id="267" r:id="rId13"/>
    <p:sldId id="264" r:id="rId14"/>
    <p:sldId id="265" r:id="rId15"/>
    <p:sldId id="266" r:id="rId16"/>
    <p:sldId id="268" r:id="rId17"/>
    <p:sldId id="269" r:id="rId18"/>
    <p:sldId id="270" r:id="rId19"/>
    <p:sldId id="273" r:id="rId20"/>
    <p:sldId id="271" r:id="rId21"/>
    <p:sldId id="272" r:id="rId22"/>
    <p:sldId id="274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592" y="5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97710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5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1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0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04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4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0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5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0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9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1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1952" y="635000"/>
            <a:ext cx="8140096" cy="96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952" y="1862667"/>
            <a:ext cx="8140096" cy="4263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1952" y="6621395"/>
            <a:ext cx="2088848" cy="234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75000"/>
                  </a:schemeClr>
                </a:solidFill>
                <a:latin typeface="Verdana"/>
                <a:cs typeface="Verdana"/>
              </a:defRPr>
            </a:lvl1pPr>
          </a:lstStyle>
          <a:p>
            <a:fld id="{DEEA9BDA-9234-5549-9347-00E9B1506D6D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656933"/>
            <a:ext cx="2895600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>
                    <a:tint val="75000"/>
                  </a:schemeClr>
                </a:solidFill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21395"/>
            <a:ext cx="2088848" cy="234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Verdana"/>
                <a:cs typeface="Verdana"/>
              </a:defRPr>
            </a:lvl1pPr>
          </a:lstStyle>
          <a:p>
            <a:fld id="{5912986C-4F47-F641-B58B-717B59AB4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0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b="1" i="0" kern="1200">
          <a:solidFill>
            <a:schemeClr val="tx1"/>
          </a:solidFill>
          <a:latin typeface="Verdana"/>
          <a:ea typeface="+mj-ea"/>
          <a:cs typeface="Verdan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Verdana"/>
          <a:ea typeface="+mn-ea"/>
          <a:cs typeface="Verdan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Verdana"/>
          <a:ea typeface="+mn-ea"/>
          <a:cs typeface="Verdan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chemeClr val="tx1"/>
          </a:solidFill>
          <a:latin typeface="Verdana"/>
          <a:ea typeface="+mn-ea"/>
          <a:cs typeface="Verdana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Verdana"/>
          <a:ea typeface="+mn-ea"/>
          <a:cs typeface="Verdana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Verdana"/>
          <a:ea typeface="+mn-ea"/>
          <a:cs typeface="Verdan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E3F8C-DFB5-F8A1-3F54-71FD633915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How to reference when writing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1FC4D-7337-2B6A-6CF2-480ACC9CAC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685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224CE-FBB5-1AE5-D169-748FDB9D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FFDFE-0534-45E7-B364-6EF864679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purpose of this guide to help you reference in your assignments when you use computer code.</a:t>
            </a:r>
          </a:p>
          <a:p>
            <a:endParaRPr lang="en-GB" dirty="0"/>
          </a:p>
          <a:p>
            <a:r>
              <a:rPr lang="en-GB" dirty="0"/>
              <a:t>This is very important as failing to reference correctly could potentially lead to a case of academic misconduct/breach of academic integrity.</a:t>
            </a:r>
          </a:p>
        </p:txBody>
      </p:sp>
    </p:spTree>
    <p:extLst>
      <p:ext uri="{BB962C8B-B14F-4D97-AF65-F5344CB8AC3E}">
        <p14:creationId xmlns:p14="http://schemas.microsoft.com/office/powerpoint/2010/main" val="243863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BA39-6FE7-5DFC-CA3E-AF02A4A3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Third Party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7CBAD-F500-2EB2-7EE9-7E832895F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 you take from a website, video, book or any other source must be referenced correctly by use of an in-text citation and a full reference in the reference section of your report.</a:t>
            </a:r>
          </a:p>
        </p:txBody>
      </p:sp>
    </p:spTree>
    <p:extLst>
      <p:ext uri="{BB962C8B-B14F-4D97-AF65-F5344CB8AC3E}">
        <p14:creationId xmlns:p14="http://schemas.microsoft.com/office/powerpoint/2010/main" val="131376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5787-459A-9578-986F-580CC027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AFCAA-A646-2391-7D98-251E9C139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Let’s say your assignment involves validating input. In our example only “Yes and “No” values are allowed, and any other value entered causes the program to loop indefinitely.</a:t>
            </a:r>
          </a:p>
          <a:p>
            <a:endParaRPr lang="en-GB" dirty="0"/>
          </a:p>
          <a:p>
            <a:r>
              <a:rPr lang="en-GB" dirty="0"/>
              <a:t>You’ve researched how to do this using the internet and you’ve found some code that looks like it will work.</a:t>
            </a:r>
          </a:p>
          <a:p>
            <a:endParaRPr lang="en-GB" dirty="0"/>
          </a:p>
          <a:p>
            <a:r>
              <a:rPr lang="en-GB" dirty="0"/>
              <a:t>Are you allowed to use this code in your assignment?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866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9264-B9F3-C547-9BB3-23D8BCCE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r>
              <a:rPr lang="en-GB" dirty="0" err="1"/>
              <a:t>cont</a:t>
            </a:r>
            <a:r>
              <a:rPr lang="en-GB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0D9D0-6476-1168-A118-FD9BEAD19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Answer “Yes” but only if you adhere to the following requirements:</a:t>
            </a:r>
          </a:p>
          <a:p>
            <a:endParaRPr lang="en-GB" dirty="0"/>
          </a:p>
          <a:p>
            <a:r>
              <a:rPr lang="en-GB" dirty="0"/>
              <a:t>Code must be referenced using both an in-text citation and a full reference (more on this later).</a:t>
            </a:r>
          </a:p>
          <a:p>
            <a:endParaRPr lang="en-GB" dirty="0"/>
          </a:p>
          <a:p>
            <a:r>
              <a:rPr lang="en-GB" dirty="0">
                <a:highlight>
                  <a:srgbClr val="00FFFF"/>
                </a:highlight>
              </a:rPr>
              <a:t>Code must respect </a:t>
            </a:r>
            <a:r>
              <a:rPr lang="en-GB" b="1" dirty="0">
                <a:highlight>
                  <a:srgbClr val="00FFFF"/>
                </a:highlight>
              </a:rPr>
              <a:t>functional decomposition </a:t>
            </a:r>
            <a:r>
              <a:rPr lang="en-GB" dirty="0">
                <a:highlight>
                  <a:srgbClr val="00FFFF"/>
                </a:highlight>
              </a:rPr>
              <a:t>– in other words the code must perform a specific task and nothing else. This will “normally” result in referenced code being relatively short as large chunks of code is likely not functionally decomposed.</a:t>
            </a:r>
          </a:p>
        </p:txBody>
      </p:sp>
    </p:spTree>
    <p:extLst>
      <p:ext uri="{BB962C8B-B14F-4D97-AF65-F5344CB8AC3E}">
        <p14:creationId xmlns:p14="http://schemas.microsoft.com/office/powerpoint/2010/main" val="1830427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6D0869-AC92-4ADE-12AC-B3CD3E9A9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in-text citation for third-party code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66CDF6-4E28-A00E-3B27-041E4AAA6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952" y="1854679"/>
            <a:ext cx="8140096" cy="445985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This goes in the source code section of your written report, and you must </a:t>
            </a:r>
            <a:r>
              <a:rPr lang="en-GB" dirty="0">
                <a:highlight>
                  <a:srgbClr val="FFFF00"/>
                </a:highlight>
              </a:rPr>
              <a:t>highlight </a:t>
            </a:r>
            <a:r>
              <a:rPr lang="en-GB" dirty="0"/>
              <a:t>the 3</a:t>
            </a:r>
            <a:r>
              <a:rPr lang="en-GB" baseline="30000" dirty="0"/>
              <a:t>rd</a:t>
            </a:r>
            <a:r>
              <a:rPr lang="en-GB" dirty="0"/>
              <a:t> party code.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7694C57-8491-35C6-3712-0602592CFB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05" b="13978"/>
          <a:stretch/>
        </p:blipFill>
        <p:spPr>
          <a:xfrm>
            <a:off x="640232" y="2691441"/>
            <a:ext cx="7662331" cy="336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3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DB259-2313-2A6D-0A25-1D437883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 of full reference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6B98B-85BF-A40E-50D7-335BB5F2A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goes in the reference section of your report.</a:t>
            </a:r>
          </a:p>
        </p:txBody>
      </p:sp>
      <p:pic>
        <p:nvPicPr>
          <p:cNvPr id="5" name="Picture 4" descr="A red arrow pointing to a black and white box&#10;&#10;Description automatically generated">
            <a:extLst>
              <a:ext uri="{FF2B5EF4-FFF2-40B4-BE49-F238E27FC236}">
                <a16:creationId xmlns:a16="http://schemas.microsoft.com/office/drawing/2014/main" id="{193B9607-449B-EA0C-1D26-5EF597E6E5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79"/>
          <a:stretch/>
        </p:blipFill>
        <p:spPr>
          <a:xfrm>
            <a:off x="353663" y="2448471"/>
            <a:ext cx="8535923" cy="205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3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B17A-2AF5-B781-14EE-D56FF5B7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Modified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200D5-BD0A-94DA-EA66-5AD9D039A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Code that has been found online but has been modified also needs to be referenced.</a:t>
            </a:r>
          </a:p>
          <a:p>
            <a:r>
              <a:rPr lang="en-GB" dirty="0"/>
              <a:t>Think of this like paraphrasing - You are altering the code, but the meaning remains the same.</a:t>
            </a:r>
          </a:p>
          <a:p>
            <a:r>
              <a:rPr lang="en-GB" dirty="0"/>
              <a:t>Modified code should be </a:t>
            </a:r>
            <a:r>
              <a:rPr lang="en-GB" dirty="0">
                <a:highlight>
                  <a:srgbClr val="FFFF00"/>
                </a:highlight>
              </a:rPr>
              <a:t>highlighted in your written report</a:t>
            </a:r>
            <a:r>
              <a:rPr lang="en-GB" dirty="0"/>
              <a:t> to show the changes made to it.</a:t>
            </a:r>
          </a:p>
          <a:p>
            <a:r>
              <a:rPr lang="en-GB" dirty="0"/>
              <a:t>Modified code requires both an in-text citation and a full reference.</a:t>
            </a:r>
          </a:p>
        </p:txBody>
      </p:sp>
    </p:spTree>
    <p:extLst>
      <p:ext uri="{BB962C8B-B14F-4D97-AF65-F5344CB8AC3E}">
        <p14:creationId xmlns:p14="http://schemas.microsoft.com/office/powerpoint/2010/main" val="59401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37CD-3C0F-C2CE-3C55-AD741962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609D7-737C-F906-3FD0-EDDB01A5A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Let's say you’ve been asked to create a hangman game and you need a function that calculates the win/loss ratio for the user.</a:t>
            </a:r>
          </a:p>
          <a:p>
            <a:r>
              <a:rPr lang="en-GB" dirty="0"/>
              <a:t>You’ve found a source, but the code does not do exactly what you need it to do so you modify it to work with your given scenario.</a:t>
            </a:r>
          </a:p>
          <a:p>
            <a:r>
              <a:rPr lang="en-GB" dirty="0"/>
              <a:t>Again, you are allowed to do this so long as you:</a:t>
            </a:r>
          </a:p>
          <a:p>
            <a:pPr lvl="1"/>
            <a:r>
              <a:rPr lang="en-GB" dirty="0"/>
              <a:t>Provide both an in-text citation and full reference</a:t>
            </a:r>
          </a:p>
          <a:p>
            <a:pPr lvl="1"/>
            <a:r>
              <a:rPr lang="en-GB" dirty="0"/>
              <a:t>In your written report </a:t>
            </a:r>
            <a:r>
              <a:rPr lang="en-GB" dirty="0">
                <a:highlight>
                  <a:srgbClr val="FFFF00"/>
                </a:highlight>
              </a:rPr>
              <a:t>highlight code </a:t>
            </a:r>
            <a:r>
              <a:rPr lang="en-GB" dirty="0"/>
              <a:t>that has been modified</a:t>
            </a:r>
          </a:p>
          <a:p>
            <a:pPr lvl="1"/>
            <a:r>
              <a:rPr lang="en-GB" dirty="0">
                <a:highlight>
                  <a:srgbClr val="00FFFF"/>
                </a:highlight>
              </a:rPr>
              <a:t>Adhere to the concept of functional decomposition</a:t>
            </a:r>
          </a:p>
        </p:txBody>
      </p:sp>
    </p:spTree>
    <p:extLst>
      <p:ext uri="{BB962C8B-B14F-4D97-AF65-F5344CB8AC3E}">
        <p14:creationId xmlns:p14="http://schemas.microsoft.com/office/powerpoint/2010/main" val="42861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0F90-69B2-A16A-9E46-6AC168ED1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" y="635000"/>
            <a:ext cx="8788400" cy="965200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 in-text citation for modified code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4B3D4C-C7BA-7639-677E-AA5A243EC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952" y="1600200"/>
            <a:ext cx="8509968" cy="4717310"/>
          </a:xfrm>
        </p:spPr>
        <p:txBody>
          <a:bodyPr/>
          <a:lstStyle/>
          <a:p>
            <a:r>
              <a:rPr lang="en-GB" dirty="0"/>
              <a:t>This goes in the source code section of your written report.</a:t>
            </a:r>
          </a:p>
          <a:p>
            <a:endParaRPr lang="en-GB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D3561B0C-C941-5603-E5A7-5447ED62B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6" y="2419022"/>
            <a:ext cx="6442312" cy="389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92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85A6-237E-5EA2-4412-459B5D88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full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AF3B-91CE-B608-43F0-3E7F05A18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goes in the reference section of your written report.</a:t>
            </a:r>
          </a:p>
          <a:p>
            <a:endParaRPr lang="en-GB" dirty="0"/>
          </a:p>
        </p:txBody>
      </p:sp>
      <p:pic>
        <p:nvPicPr>
          <p:cNvPr id="5" name="Picture 4" descr="A red arrow pointing to a white paper&#10;&#10;Description automatically generated">
            <a:extLst>
              <a:ext uri="{FF2B5EF4-FFF2-40B4-BE49-F238E27FC236}">
                <a16:creationId xmlns:a16="http://schemas.microsoft.com/office/drawing/2014/main" id="{8457C20D-BCD9-824C-73BE-0DA1A5F41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2" y="2917973"/>
            <a:ext cx="8752376" cy="24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65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0EB4-63E1-2B34-3CA0-9F11DB133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– Generated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D0887-99A0-E75E-8AA5-3000CF5F0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 general rule code used in an assignment that has been generated by AI tools such as chat GPT </a:t>
            </a:r>
            <a:r>
              <a:rPr lang="en-GB" b="1" dirty="0"/>
              <a:t>should be avoided </a:t>
            </a:r>
            <a:r>
              <a:rPr lang="en-GB" dirty="0"/>
              <a:t>because:</a:t>
            </a:r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Code can be wrong</a:t>
            </a:r>
          </a:p>
          <a:p>
            <a:pPr lvl="1"/>
            <a:r>
              <a:rPr lang="en-GB" dirty="0"/>
              <a:t>Code introduces bad programming practises</a:t>
            </a:r>
          </a:p>
          <a:p>
            <a:pPr lvl="1"/>
            <a:r>
              <a:rPr lang="en-GB" dirty="0"/>
              <a:t>Code introduces syntax/style not covered by course and therefore may not be assessed</a:t>
            </a:r>
          </a:p>
          <a:p>
            <a:pPr lvl="1"/>
            <a:r>
              <a:rPr lang="en-GB" dirty="0"/>
              <a:t>Code produced is not indicative of student capabilities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256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D1C6-777D-CD92-9EEA-104DB7E8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Generated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FEE1F-07FB-E284-E3F2-08AF6A6C3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you use AI generated code as is – in other words no modifications have been made, then follow the guidelines for Third-party code use:</a:t>
            </a:r>
          </a:p>
          <a:p>
            <a:pPr lvl="1"/>
            <a:r>
              <a:rPr lang="en-GB" dirty="0"/>
              <a:t>Provide both an in-text citation and full reference</a:t>
            </a:r>
          </a:p>
          <a:p>
            <a:pPr lvl="1"/>
            <a:r>
              <a:rPr lang="en-GB" dirty="0"/>
              <a:t>In the written report </a:t>
            </a:r>
            <a:r>
              <a:rPr lang="en-GB" dirty="0">
                <a:highlight>
                  <a:srgbClr val="FFFF00"/>
                </a:highlight>
              </a:rPr>
              <a:t>highlight code </a:t>
            </a:r>
            <a:r>
              <a:rPr lang="en-GB" dirty="0"/>
              <a:t>that has been AI Generated</a:t>
            </a:r>
          </a:p>
          <a:p>
            <a:pPr lvl="1"/>
            <a:r>
              <a:rPr lang="en-GB" dirty="0">
                <a:highlight>
                  <a:srgbClr val="00FFFF"/>
                </a:highlight>
              </a:rPr>
              <a:t>Adhere to functional decomposition</a:t>
            </a:r>
          </a:p>
          <a:p>
            <a:pPr lvl="1"/>
            <a:endParaRPr lang="en-GB" dirty="0"/>
          </a:p>
          <a:p>
            <a:r>
              <a:rPr lang="en-GB" dirty="0"/>
              <a:t>You also need to do the following:</a:t>
            </a:r>
          </a:p>
          <a:p>
            <a:pPr lvl="1"/>
            <a:r>
              <a:rPr lang="en-GB" dirty="0"/>
              <a:t>Include the prompt you typed in, in the full reference of your report</a:t>
            </a:r>
          </a:p>
        </p:txBody>
      </p:sp>
    </p:spTree>
    <p:extLst>
      <p:ext uri="{BB962C8B-B14F-4D97-AF65-F5344CB8AC3E}">
        <p14:creationId xmlns:p14="http://schemas.microsoft.com/office/powerpoint/2010/main" val="246635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F64D8-B0C7-76E4-7BFA-2BD3E7D6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3C2CD-5340-9917-8033-C4ECF8737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Let’s say you’ve been asked to create a program in python and one of the requirements is that it reads student data from a CSV file and parses it to ensure it is in the correct format.</a:t>
            </a:r>
          </a:p>
          <a:p>
            <a:r>
              <a:rPr lang="en-GB" dirty="0"/>
              <a:t>You have looked online and read through some books but still can’t find a solution that will help so you decide to use generative AI to help.</a:t>
            </a:r>
          </a:p>
          <a:p>
            <a:r>
              <a:rPr lang="en-GB" dirty="0"/>
              <a:t>Use of generative AI should be limited but if you do use it </a:t>
            </a:r>
            <a:r>
              <a:rPr lang="en-GB" b="1" dirty="0"/>
              <a:t>remember</a:t>
            </a:r>
            <a:r>
              <a:rPr lang="en-GB" dirty="0"/>
              <a:t> you need to:</a:t>
            </a:r>
          </a:p>
          <a:p>
            <a:pPr lvl="1"/>
            <a:r>
              <a:rPr lang="en-GB" dirty="0"/>
              <a:t>Provide both an in-text citation and full reference</a:t>
            </a:r>
          </a:p>
          <a:p>
            <a:pPr lvl="1"/>
            <a:r>
              <a:rPr lang="en-GB" dirty="0">
                <a:highlight>
                  <a:srgbClr val="00FFFF"/>
                </a:highlight>
              </a:rPr>
              <a:t>Adhere to the concept of functional decomposition</a:t>
            </a:r>
          </a:p>
          <a:p>
            <a:pPr lvl="1"/>
            <a:r>
              <a:rPr lang="en-GB" dirty="0"/>
              <a:t>Include a reference to the prompt you entered that generated the code in the reference section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517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8F03-3BF5-7705-57F9-30396D86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0" y="1295400"/>
            <a:ext cx="3068320" cy="965200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 in-text citation for AI Generated Code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11A5A270-FEAC-6A93-8BCF-4DFDD11F5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35000"/>
            <a:ext cx="5718302" cy="53797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05B945-9089-27BD-EDBF-7B1948F020A0}"/>
              </a:ext>
            </a:extLst>
          </p:cNvPr>
          <p:cNvSpPr txBox="1"/>
          <p:nvPr/>
        </p:nvSpPr>
        <p:spPr>
          <a:xfrm>
            <a:off x="6075680" y="3429000"/>
            <a:ext cx="3068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Verdana" panose="020B0604030504040204" pitchFamily="34" charset="0"/>
                <a:ea typeface="Verdana" panose="020B0604030504040204" pitchFamily="34" charset="0"/>
              </a:rPr>
              <a:t>This goes in the source code section of your written report</a:t>
            </a:r>
          </a:p>
        </p:txBody>
      </p:sp>
    </p:spTree>
    <p:extLst>
      <p:ext uri="{BB962C8B-B14F-4D97-AF65-F5344CB8AC3E}">
        <p14:creationId xmlns:p14="http://schemas.microsoft.com/office/powerpoint/2010/main" val="359906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417E-9183-8FEF-9AE4-4C959F74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full reference</a:t>
            </a:r>
          </a:p>
        </p:txBody>
      </p:sp>
      <p:pic>
        <p:nvPicPr>
          <p:cNvPr id="9" name="Content Placeholder 8" descr="A close-up of a paper&#10;&#10;Description automatically generated">
            <a:extLst>
              <a:ext uri="{FF2B5EF4-FFF2-40B4-BE49-F238E27FC236}">
                <a16:creationId xmlns:a16="http://schemas.microsoft.com/office/drawing/2014/main" id="{95397890-E42B-9C0B-4553-0807401CF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49" y="2632760"/>
            <a:ext cx="8331297" cy="2786528"/>
          </a:xfr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13C989-B094-9E31-1955-9A8809B54703}"/>
              </a:ext>
            </a:extLst>
          </p:cNvPr>
          <p:cNvSpPr txBox="1">
            <a:spLocks/>
          </p:cNvSpPr>
          <p:nvPr/>
        </p:nvSpPr>
        <p:spPr>
          <a:xfrm>
            <a:off x="501952" y="1862667"/>
            <a:ext cx="8140096" cy="4263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/>
              <a:t>This goes in the reference section of your report.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362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A047-A466-4D34-11A5-60B874FB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Generated Modified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07AD-DAD7-06A1-6780-7AAD80DEC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you use AI generated code but make modifications to it, then you need to follow the rules for modified code:</a:t>
            </a:r>
          </a:p>
          <a:p>
            <a:pPr lvl="1"/>
            <a:r>
              <a:rPr lang="en-GB" dirty="0"/>
              <a:t>Provide both an in-text citation and full reference</a:t>
            </a:r>
          </a:p>
          <a:p>
            <a:pPr lvl="1"/>
            <a:r>
              <a:rPr lang="en-GB" dirty="0"/>
              <a:t>In the written report </a:t>
            </a:r>
            <a:r>
              <a:rPr lang="en-GB" dirty="0">
                <a:highlight>
                  <a:srgbClr val="FFFF00"/>
                </a:highlight>
              </a:rPr>
              <a:t>highlight code </a:t>
            </a:r>
            <a:r>
              <a:rPr lang="en-GB" dirty="0"/>
              <a:t>that has been modified</a:t>
            </a:r>
          </a:p>
          <a:p>
            <a:pPr lvl="1"/>
            <a:r>
              <a:rPr lang="en-GB" dirty="0">
                <a:highlight>
                  <a:srgbClr val="00FFFF"/>
                </a:highlight>
              </a:rPr>
              <a:t>Adhere to the concept of functional decomposition</a:t>
            </a:r>
          </a:p>
          <a:p>
            <a:pPr lvl="1"/>
            <a:endParaRPr lang="en-GB" dirty="0">
              <a:highlight>
                <a:srgbClr val="00FFFF"/>
              </a:highlight>
            </a:endParaRPr>
          </a:p>
          <a:p>
            <a:r>
              <a:rPr lang="en-GB" dirty="0"/>
              <a:t>You also need to do the following:</a:t>
            </a:r>
          </a:p>
          <a:p>
            <a:pPr lvl="1"/>
            <a:r>
              <a:rPr lang="en-GB" dirty="0"/>
              <a:t>Include the prompt you typed in, in the full reference of your report</a:t>
            </a:r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959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251A-E004-0967-DD14-A885C23F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1D116-B972-E90C-9480-60EBE7AC8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Let's say we have been tasked with creating a wordsearch like game and we need a function to fill the grid with random letters.</a:t>
            </a:r>
          </a:p>
          <a:p>
            <a:r>
              <a:rPr lang="en-GB" dirty="0"/>
              <a:t>You’ve researched online and looked through books but cannot finding anything that helps so you use generate AI to help.</a:t>
            </a:r>
          </a:p>
          <a:p>
            <a:r>
              <a:rPr lang="en-GB" dirty="0"/>
              <a:t>Use of generative AI should be limited but if you do use it remember you need to:</a:t>
            </a:r>
          </a:p>
          <a:p>
            <a:pPr lvl="1"/>
            <a:r>
              <a:rPr lang="en-GB" dirty="0"/>
              <a:t>Provide both an in-text citation and full reference</a:t>
            </a:r>
          </a:p>
          <a:p>
            <a:pPr lvl="1"/>
            <a:r>
              <a:rPr lang="en-GB" dirty="0">
                <a:highlight>
                  <a:srgbClr val="00FFFF"/>
                </a:highlight>
              </a:rPr>
              <a:t>Adhere to the concept of functional decomposition</a:t>
            </a:r>
          </a:p>
          <a:p>
            <a:pPr lvl="1"/>
            <a:r>
              <a:rPr lang="en-GB" dirty="0"/>
              <a:t>Include a reference to the prompt you entered that generated the code in the reference section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953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1671-7C84-02CA-E04A-C22822ED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of in-text citation for AI generated modified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86C64-ED3D-8590-F555-A6F23D27C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goes in the source code section of your written report.</a:t>
            </a:r>
          </a:p>
        </p:txBody>
      </p:sp>
      <p:pic>
        <p:nvPicPr>
          <p:cNvPr id="5" name="Picture 4" descr="A white background with red text&#10;&#10;Description automatically generated">
            <a:extLst>
              <a:ext uri="{FF2B5EF4-FFF2-40B4-BE49-F238E27FC236}">
                <a16:creationId xmlns:a16="http://schemas.microsoft.com/office/drawing/2014/main" id="{D19139CD-8E7F-2A89-5353-76FC1EAAC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3197"/>
            <a:ext cx="8717280" cy="294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23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6E764-930C-E16E-1AEA-47E4ECA1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full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D772C-4381-57F7-0B98-CB26B1ADE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goes in the reference section of your written report.</a:t>
            </a:r>
          </a:p>
        </p:txBody>
      </p:sp>
      <p:pic>
        <p:nvPicPr>
          <p:cNvPr id="5" name="Picture 4" descr="A close-up of a paper&#10;&#10;Description automatically generated">
            <a:extLst>
              <a:ext uri="{FF2B5EF4-FFF2-40B4-BE49-F238E27FC236}">
                <a16:creationId xmlns:a16="http://schemas.microsoft.com/office/drawing/2014/main" id="{3F85C132-42CB-B1CA-6B08-7C7466AFA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6" y="2691442"/>
            <a:ext cx="8688704" cy="36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77339"/>
      </p:ext>
    </p:extLst>
  </p:cSld>
  <p:clrMapOvr>
    <a:masterClrMapping/>
  </p:clrMapOvr>
</p:sld>
</file>

<file path=ppt/theme/theme1.xml><?xml version="1.0" encoding="utf-8"?>
<a:theme xmlns:a="http://schemas.openxmlformats.org/drawingml/2006/main" name="IY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Y)" id="{817B1835-C2AC-4418-9B1D-5EA20947A07A}" vid="{35E8C3D4-3C26-4A29-B106-D4CF059FE24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5B6AB871547C4AACBCF7C33AD743AC" ma:contentTypeVersion="3" ma:contentTypeDescription="Create a new document." ma:contentTypeScope="" ma:versionID="4a316b2f668a81da638da151fbbc4cfc">
  <xsd:schema xmlns:xsd="http://www.w3.org/2001/XMLSchema" xmlns:xs="http://www.w3.org/2001/XMLSchema" xmlns:p="http://schemas.microsoft.com/office/2006/metadata/properties" xmlns:ns2="3d722962-e881-4054-ae1b-143f07c92dd1" targetNamespace="http://schemas.microsoft.com/office/2006/metadata/properties" ma:root="true" ma:fieldsID="9439e4f7cb8cf161ecf87064cfcb174f" ns2:_="">
    <xsd:import namespace="3d722962-e881-4054-ae1b-143f07c92d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722962-e881-4054-ae1b-143f07c92d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9B90E8-7F7E-4D60-BC45-64AEE4FA48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65F7C0-E3A0-42DF-95EE-712841127D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722962-e881-4054-ae1b-143f07c92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AACBD2-D925-4978-B306-F197017BC4A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IY)</Template>
  <TotalTime>2217</TotalTime>
  <Words>960</Words>
  <Application>Microsoft Macintosh PowerPoint</Application>
  <PresentationFormat>On-screen Show (4:3)</PresentationFormat>
  <Paragraphs>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Verdana</vt:lpstr>
      <vt:lpstr>IY)</vt:lpstr>
      <vt:lpstr>How to reference when writing code</vt:lpstr>
      <vt:lpstr>Introduction</vt:lpstr>
      <vt:lpstr>Third Party Code</vt:lpstr>
      <vt:lpstr>Example</vt:lpstr>
      <vt:lpstr>Example cont…</vt:lpstr>
      <vt:lpstr>Example in-text citation for third-party code</vt:lpstr>
      <vt:lpstr>Example of full reference</vt:lpstr>
      <vt:lpstr>Modified Code</vt:lpstr>
      <vt:lpstr>Example cont.</vt:lpstr>
      <vt:lpstr>Example in-text citation for modified code</vt:lpstr>
      <vt:lpstr>Example of full reference</vt:lpstr>
      <vt:lpstr>AI – Generated Code</vt:lpstr>
      <vt:lpstr>AI Generated Code</vt:lpstr>
      <vt:lpstr>Example</vt:lpstr>
      <vt:lpstr>Example in-text citation for AI Generated Code</vt:lpstr>
      <vt:lpstr>Example of full reference</vt:lpstr>
      <vt:lpstr>AI Generated Modified Code</vt:lpstr>
      <vt:lpstr>Example</vt:lpstr>
      <vt:lpstr>Example of in-text citation for AI generated modified code</vt:lpstr>
      <vt:lpstr>Example of full 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reference when writing code</dc:title>
  <dc:creator>Jonathan</dc:creator>
  <cp:lastModifiedBy>Batuhan Şahin Sert</cp:lastModifiedBy>
  <cp:revision>29</cp:revision>
  <dcterms:created xsi:type="dcterms:W3CDTF">2024-02-29T09:50:35Z</dcterms:created>
  <dcterms:modified xsi:type="dcterms:W3CDTF">2026-03-11T00:55:45Z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3e79c8-16ce-4717-8427-b73b3f6084ef_Enabled">
    <vt:lpwstr>true</vt:lpwstr>
  </property>
  <property fmtid="{D5CDD505-2E9C-101B-9397-08002B2CF9AE}" pid="3" name="MSIP_Label_a43e79c8-16ce-4717-8427-b73b3f6084ef_SetDate">
    <vt:lpwstr>2024-03-21T12:10:34Z</vt:lpwstr>
  </property>
  <property fmtid="{D5CDD505-2E9C-101B-9397-08002B2CF9AE}" pid="4" name="MSIP_Label_a43e79c8-16ce-4717-8427-b73b3f6084ef_Method">
    <vt:lpwstr>Privileged</vt:lpwstr>
  </property>
  <property fmtid="{D5CDD505-2E9C-101B-9397-08002B2CF9AE}" pid="5" name="MSIP_Label_a43e79c8-16ce-4717-8427-b73b3f6084ef_Name">
    <vt:lpwstr>Public</vt:lpwstr>
  </property>
  <property fmtid="{D5CDD505-2E9C-101B-9397-08002B2CF9AE}" pid="6" name="MSIP_Label_a43e79c8-16ce-4717-8427-b73b3f6084ef_SiteId">
    <vt:lpwstr>057daf85-b1d5-44cd-ab7b-0a4ce1b29eae</vt:lpwstr>
  </property>
  <property fmtid="{D5CDD505-2E9C-101B-9397-08002B2CF9AE}" pid="7" name="MSIP_Label_a43e79c8-16ce-4717-8427-b73b3f6084ef_ActionId">
    <vt:lpwstr>c6378139-79e5-41c3-840b-941bd9e27cf3</vt:lpwstr>
  </property>
  <property fmtid="{D5CDD505-2E9C-101B-9397-08002B2CF9AE}" pid="8" name="MSIP_Label_a43e79c8-16ce-4717-8427-b73b3f6084ef_ContentBits">
    <vt:lpwstr>0</vt:lpwstr>
  </property>
  <property fmtid="{D5CDD505-2E9C-101B-9397-08002B2CF9AE}" pid="9" name="ContentTypeId">
    <vt:lpwstr>0x010100365B6AB871547C4AACBCF7C33AD743AC</vt:lpwstr>
  </property>
</Properties>
</file>